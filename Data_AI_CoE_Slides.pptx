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318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7B1A1A"/>
          </a:solidFill>
          <a:ln w="12700">
            <a:solidFill>
              <a:srgbClr val="7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FF9090"/>
          </a:solidFill>
          <a:ln w="12700">
            <a:solidFill>
              <a:srgbClr val="FF9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01675"/>
            <a:ext cx="12161520" cy="38405"/>
          </a:xfrm>
          <a:prstGeom prst="rect">
            <a:avLst/>
          </a:prstGeom>
          <a:solidFill>
            <a:srgbClr val="C23232"/>
          </a:solidFill>
          <a:ln w="1270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AI Platform  |  Center of Excellence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0664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MRx  ·  MomentimRx  ·  Vision &amp; Objectives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" y="749808"/>
            <a:ext cx="11905488" cy="530352"/>
          </a:xfrm>
          <a:prstGeom prst="rect">
            <a:avLst/>
          </a:prstGeom>
          <a:solidFill>
            <a:srgbClr val="FFF2F2"/>
          </a:solidFill>
          <a:ln w="12700">
            <a:solidFill>
              <a:srgbClr val="E0B8B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8016" y="749808"/>
            <a:ext cx="50292" cy="530352"/>
          </a:xfrm>
          <a:prstGeom prst="rect">
            <a:avLst/>
          </a:prstGeom>
          <a:solidFill>
            <a:srgbClr val="9E2323"/>
          </a:solidFill>
          <a:ln w="12700">
            <a:solidFill>
              <a:srgbClr val="9E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" y="786384"/>
            <a:ext cx="1172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MRx CoE  </a:t>
            </a:r>
            <a:r>
              <a:rPr lang="en-US" sz="1050" dirty="0">
                <a:solidFill>
                  <a:srgbClr val="4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centralized engineering and AI delivery model established by MomentimRx to standardize, govern, and accelerate how data, analytics, and AI capabilities are built and reused — initially across MRx, and now expanding to serve the broader CSI organization as a shared reference model.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" y="1371600"/>
            <a:ext cx="4297680" cy="5230368"/>
          </a:xfrm>
          <a:prstGeom prst="rect">
            <a:avLst/>
          </a:prstGeom>
          <a:solidFill>
            <a:srgbClr val="FFFFFF"/>
          </a:solidFill>
          <a:ln w="19050">
            <a:solidFill>
              <a:srgbClr val="D0B8B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" y="1371600"/>
            <a:ext cx="4297680" cy="365760"/>
          </a:xfrm>
          <a:prstGeom prst="rect">
            <a:avLst/>
          </a:prstGeom>
          <a:solidFill>
            <a:srgbClr val="9E2323"/>
          </a:solidFill>
          <a:ln w="12700">
            <a:solidFill>
              <a:srgbClr val="9E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137160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Objectives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536192" y="3749040"/>
            <a:ext cx="1481328" cy="1389888"/>
          </a:xfrm>
          <a:prstGeom prst="ellipse">
            <a:avLst/>
          </a:prstGeom>
          <a:solidFill>
            <a:srgbClr val="7B1A1A"/>
          </a:solidFill>
          <a:ln w="31750">
            <a:solidFill>
              <a:srgbClr val="C23232"/>
            </a:solidFill>
            <a:prstDash val="solid"/>
          </a:ln>
          <a:effectLst>
            <a:outerShdw blurRad="1270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27632" y="3822192"/>
            <a:ext cx="1298448" cy="1243584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36192" y="3950208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CoE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76856" y="2615184"/>
            <a:ext cx="0" cy="1133856"/>
          </a:xfrm>
          <a:prstGeom prst="line">
            <a:avLst/>
          </a:prstGeom>
          <a:noFill/>
          <a:ln w="1651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37360" y="1847088"/>
            <a:ext cx="1078992" cy="768096"/>
          </a:xfrm>
          <a:prstGeom prst="rect">
            <a:avLst/>
          </a:prstGeom>
          <a:solidFill>
            <a:srgbClr val="FFF2F2"/>
          </a:solidFill>
          <a:ln w="16510">
            <a:solidFill>
              <a:srgbClr val="C232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37360" y="1847088"/>
            <a:ext cx="50292" cy="768096"/>
          </a:xfrm>
          <a:prstGeom prst="rect">
            <a:avLst/>
          </a:prstGeom>
          <a:solidFill>
            <a:srgbClr val="9E2323"/>
          </a:solidFill>
          <a:ln w="12700">
            <a:solidFill>
              <a:srgbClr val="9E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28800" y="1883664"/>
            <a:ext cx="9509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Standard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89304" y="4443984"/>
            <a:ext cx="246888" cy="0"/>
          </a:xfrm>
          <a:prstGeom prst="line">
            <a:avLst/>
          </a:prstGeom>
          <a:noFill/>
          <a:ln w="1651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10312" y="4059936"/>
            <a:ext cx="1078992" cy="768096"/>
          </a:xfrm>
          <a:prstGeom prst="rect">
            <a:avLst/>
          </a:prstGeom>
          <a:solidFill>
            <a:srgbClr val="FFF2F2"/>
          </a:solidFill>
          <a:ln w="16510">
            <a:solidFill>
              <a:srgbClr val="C232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0312" y="4059936"/>
            <a:ext cx="50292" cy="768096"/>
          </a:xfrm>
          <a:prstGeom prst="rect">
            <a:avLst/>
          </a:prstGeom>
          <a:solidFill>
            <a:srgbClr val="9E2323"/>
          </a:solidFill>
          <a:ln w="12700">
            <a:solidFill>
              <a:srgbClr val="9E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1752" y="4096512"/>
            <a:ext cx="9509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Benchmark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Programs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17520" y="4443984"/>
            <a:ext cx="246888" cy="0"/>
          </a:xfrm>
          <a:prstGeom prst="line">
            <a:avLst/>
          </a:prstGeom>
          <a:noFill/>
          <a:ln w="1651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64408" y="4059936"/>
            <a:ext cx="1078992" cy="768096"/>
          </a:xfrm>
          <a:prstGeom prst="rect">
            <a:avLst/>
          </a:prstGeom>
          <a:solidFill>
            <a:srgbClr val="FFF2F2"/>
          </a:solidFill>
          <a:ln w="16510">
            <a:solidFill>
              <a:srgbClr val="C232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64408" y="4059936"/>
            <a:ext cx="50292" cy="768096"/>
          </a:xfrm>
          <a:prstGeom prst="rect">
            <a:avLst/>
          </a:prstGeom>
          <a:solidFill>
            <a:srgbClr val="9E2323"/>
          </a:solidFill>
          <a:ln w="12700">
            <a:solidFill>
              <a:srgbClr val="9E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55848" y="4096512"/>
            <a:ext cx="9509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Repeatable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Processes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 flipH="1">
            <a:off x="673237" y="4919472"/>
            <a:ext cx="1087438" cy="804667"/>
          </a:xfrm>
          <a:prstGeom prst="line">
            <a:avLst/>
          </a:prstGeom>
          <a:noFill/>
          <a:ln w="1651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10312" y="5724144"/>
            <a:ext cx="1078992" cy="768096"/>
          </a:xfrm>
          <a:prstGeom prst="rect">
            <a:avLst/>
          </a:prstGeom>
          <a:solidFill>
            <a:srgbClr val="FFF2F2"/>
          </a:solidFill>
          <a:ln w="16510">
            <a:solidFill>
              <a:srgbClr val="C232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10312" y="5724144"/>
            <a:ext cx="50292" cy="768096"/>
          </a:xfrm>
          <a:prstGeom prst="rect">
            <a:avLst/>
          </a:prstGeom>
          <a:solidFill>
            <a:srgbClr val="9E2323"/>
          </a:solidFill>
          <a:ln w="12700">
            <a:solidFill>
              <a:srgbClr val="9E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1752" y="5760720"/>
            <a:ext cx="9509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Platform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AI Readiness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71672" y="4886513"/>
            <a:ext cx="995539" cy="837626"/>
          </a:xfrm>
          <a:prstGeom prst="line">
            <a:avLst/>
          </a:prstGeom>
          <a:noFill/>
          <a:ln w="1651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64408" y="5724144"/>
            <a:ext cx="1078992" cy="768096"/>
          </a:xfrm>
          <a:prstGeom prst="rect">
            <a:avLst/>
          </a:prstGeom>
          <a:solidFill>
            <a:srgbClr val="FFF2F2"/>
          </a:solidFill>
          <a:ln w="16510">
            <a:solidFill>
              <a:srgbClr val="C232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64408" y="5724144"/>
            <a:ext cx="50292" cy="768096"/>
          </a:xfrm>
          <a:prstGeom prst="rect">
            <a:avLst/>
          </a:prstGeom>
          <a:solidFill>
            <a:srgbClr val="9E2323"/>
          </a:solidFill>
          <a:ln w="12700">
            <a:solidFill>
              <a:srgbClr val="9E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55848" y="5760720"/>
            <a:ext cx="9509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Quality,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53712" y="1371600"/>
            <a:ext cx="7479792" cy="5230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0B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53712" y="1371600"/>
            <a:ext cx="7479792" cy="365760"/>
          </a:xfrm>
          <a:prstGeom prst="rect">
            <a:avLst/>
          </a:prstGeom>
          <a:solidFill>
            <a:srgbClr val="7B1A1A"/>
          </a:solidFill>
          <a:ln w="12700">
            <a:solidFill>
              <a:srgbClr val="7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81728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Means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663440" y="1810512"/>
            <a:ext cx="7260336" cy="1115568"/>
          </a:xfrm>
          <a:prstGeom prst="rect">
            <a:avLst/>
          </a:prstGeom>
          <a:solidFill>
            <a:srgbClr val="FFF6F6"/>
          </a:solidFill>
          <a:ln w="10160">
            <a:solidFill>
              <a:srgbClr val="E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2167128"/>
            <a:ext cx="402336" cy="402336"/>
          </a:xfrm>
          <a:prstGeom prst="ellipse">
            <a:avLst/>
          </a:prstGeom>
          <a:solidFill>
            <a:srgbClr val="7B1A1A"/>
          </a:solidFill>
          <a:ln w="1270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21671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🏗️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48656" y="1865376"/>
            <a:ext cx="6601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Shared Engineering Model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48656" y="2084832"/>
            <a:ext cx="660196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each project rebuilding from scratch, the CoE provides a common foundation — reusable pipelines, pre-built patterns, and enforced standards that every team can consume from day one.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999232"/>
            <a:ext cx="7260336" cy="1115568"/>
          </a:xfrm>
          <a:prstGeom prst="rect">
            <a:avLst/>
          </a:prstGeom>
          <a:solidFill>
            <a:srgbClr val="FFF2F2"/>
          </a:solidFill>
          <a:ln w="10160">
            <a:solidFill>
              <a:srgbClr val="E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54880" y="3355848"/>
            <a:ext cx="402336" cy="402336"/>
          </a:xfrm>
          <a:prstGeom prst="ellipse">
            <a:avLst/>
          </a:prstGeom>
          <a:solidFill>
            <a:srgbClr val="7B1A1A"/>
          </a:solidFill>
          <a:ln w="1270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54880" y="3355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248656" y="3054096"/>
            <a:ext cx="6601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Expanding Beyond MRx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248656" y="3273552"/>
            <a:ext cx="660196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started as an internal MRx initiative is now becoming the reference architecture for the broader CSI organization — establishing a blueprint for how data and AI work gets done enterprise-wide.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187952"/>
            <a:ext cx="7260336" cy="1115568"/>
          </a:xfrm>
          <a:prstGeom prst="rect">
            <a:avLst/>
          </a:prstGeom>
          <a:solidFill>
            <a:srgbClr val="FFF8F8"/>
          </a:solidFill>
          <a:ln w="10160">
            <a:solidFill>
              <a:srgbClr val="E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54880" y="4544568"/>
            <a:ext cx="402336" cy="402336"/>
          </a:xfrm>
          <a:prstGeom prst="ellipse">
            <a:avLst/>
          </a:prstGeom>
          <a:solidFill>
            <a:srgbClr val="7B1A1A"/>
          </a:solidFill>
          <a:ln w="1270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0" y="4544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48656" y="4242816"/>
            <a:ext cx="6601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Accelerated Time-to-Value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48656" y="4462272"/>
            <a:ext cx="660196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standardizing ingestion, transformation, governance, CI/CD, and AI tooling, the CoE dramatically cuts the time it takes to take a data or AI idea from concept to production-ready capability.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5376672"/>
            <a:ext cx="7260336" cy="1115568"/>
          </a:xfrm>
          <a:prstGeom prst="rect">
            <a:avLst/>
          </a:prstGeom>
          <a:solidFill>
            <a:srgbClr val="FFF4F4"/>
          </a:solidFill>
          <a:ln w="10160">
            <a:solidFill>
              <a:srgbClr val="E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754880" y="5733288"/>
            <a:ext cx="402336" cy="402336"/>
          </a:xfrm>
          <a:prstGeom prst="ellipse">
            <a:avLst/>
          </a:prstGeom>
          <a:solidFill>
            <a:srgbClr val="7B1A1A"/>
          </a:solidFill>
          <a:ln w="1270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754880" y="5733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248656" y="5431536"/>
            <a:ext cx="6601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Quality &amp; Governance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248656" y="5650992"/>
            <a:ext cx="660196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compliance, data quality, and operational readiness are baked into every pattern — not bolted on. Teams inherit best practices automatically rather than discovering gaps in production.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82880" y="663854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MomentimRx  |  © 2025 McKesson Corporation  |  McKesson Proprietary and Confidential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9601200" y="66385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7B1A1A"/>
          </a:solidFill>
          <a:ln w="12700">
            <a:solidFill>
              <a:srgbClr val="7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FF9090"/>
          </a:solidFill>
          <a:ln w="12700">
            <a:solidFill>
              <a:srgbClr val="FF9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01675"/>
            <a:ext cx="12161520" cy="38405"/>
          </a:xfrm>
          <a:prstGeom prst="rect">
            <a:avLst/>
          </a:prstGeom>
          <a:solidFill>
            <a:srgbClr val="C23232"/>
          </a:solidFill>
          <a:ln w="1270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AI Platform  |  Center of Excellence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0664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MRx  ·  MomentimRx  ·  CoE Core Pillars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" y="749808"/>
            <a:ext cx="11905488" cy="402336"/>
          </a:xfrm>
          <a:prstGeom prst="rect">
            <a:avLst/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1161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technical pillars that define how the MRx CoE delivers, governs, and operates the Data &amp; AI Platform — spanning engineering, data management, security, infrastructure, and AI enablement.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" y="1225296"/>
            <a:ext cx="2921508" cy="14508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8016" y="1225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02052" y="1298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02052" y="1298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9456" y="1289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NFR &amp; Checks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" y="1554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9456" y="1591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· RTO/RPO · SLAs · HA/DR · LeanIX · CMDB · AS Numbers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22676" y="1225296"/>
            <a:ext cx="2921508" cy="1450848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22676" y="1225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96712" y="1298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96712" y="1298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14116" y="1289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Dev Framework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4116" y="1554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14116" y="1591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Pipelines · Ingestion Tools · AI-Assisted Dev · SonarQube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17336" y="1225296"/>
            <a:ext cx="2921508" cy="14508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17336" y="1225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91372" y="1298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91372" y="1298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08776" y="1289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Data Management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08776" y="1554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08776" y="1591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· Unity Catalog · Medallion Layers · Partitioning · Vacuuming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111996" y="1225296"/>
            <a:ext cx="2921508" cy="14508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11996" y="1225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686032" y="1298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686032" y="1298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203436" y="1289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 Testing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203436" y="1554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03436" y="1591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 · Unit Testing · Integration · Contracts · Schema Validation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28016" y="2749296"/>
            <a:ext cx="2921508" cy="145084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28016" y="2749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702052" y="2822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02052" y="2822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19456" y="2813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 Error Handling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9456" y="3078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19456" y="3115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· Exception Logs · Error Reporting · Alerting · Retry Policy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122676" y="2749296"/>
            <a:ext cx="2921508" cy="1450848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122676" y="2749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696712" y="2822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696712" y="2822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14116" y="2813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CI/CD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14116" y="3078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14116" y="3115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Bundles · Git Workflows · Feature Flags · Approval Gateway · Release Mgmt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17336" y="2749296"/>
            <a:ext cx="2921508" cy="1450848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117336" y="2749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691372" y="2822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691372" y="2822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08776" y="2813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🏛️  Data Governance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08776" y="3078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08776" y="3115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Extraction · Glossary · Alation Integration · Table &amp; View Definitions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111996" y="2749296"/>
            <a:ext cx="2921508" cy="14508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111996" y="2749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1686032" y="2822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1686032" y="2822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203436" y="2813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Ops Readiness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203436" y="3078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203436" y="3115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Mgmt · Incident Mgmt · Jira · ServiceNow · SOX/SOC Auditing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28016" y="4273296"/>
            <a:ext cx="2921508" cy="14508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28016" y="4273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702052" y="4346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702052" y="4346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19456" y="4337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Infrastructure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19456" y="4602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19456" y="4639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 · Compute Policies · Tagging · Cluster Resizing · Cost Optimization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122676" y="4273296"/>
            <a:ext cx="2921508" cy="14508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122676" y="4273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696712" y="4346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696712" y="4346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214116" y="4337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Cost Avoidance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214116" y="4602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214116" y="4639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Monitoring · Chargeback Model · Right-Sizing · Auto-Termination · Budget Alerts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117336" y="4273296"/>
            <a:ext cx="2921508" cy="145084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117336" y="4273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691372" y="4346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691372" y="4346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208776" y="4337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Observability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208776" y="4602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208776" y="4639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 · Azure Monitor · SLA Tracking · Distributed Tracing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9111996" y="4273296"/>
            <a:ext cx="2921508" cy="1450848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9111996" y="4273296"/>
            <a:ext cx="292150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1686032" y="4346448"/>
            <a:ext cx="256032" cy="25603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1686032" y="4346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9203436" y="4337304"/>
            <a:ext cx="2427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Security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9203436" y="4602480"/>
            <a:ext cx="2738628" cy="0"/>
          </a:xfrm>
          <a:prstGeom prst="line">
            <a:avLst/>
          </a:prstGeom>
          <a:noFill/>
          <a:ln w="762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9203436" y="4639056"/>
            <a:ext cx="2756916" cy="1048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· Wiz Cloud Monitoring · GitHub Security Scanner · Zero Trust · RBAC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28016" y="5797296"/>
            <a:ext cx="11905488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28016" y="5797296"/>
            <a:ext cx="11905488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19456" y="6025896"/>
            <a:ext cx="274320" cy="274320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219456" y="6025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585216" y="5797296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AI Enablement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2962656" y="5907024"/>
            <a:ext cx="0" cy="512064"/>
          </a:xfrm>
          <a:prstGeom prst="line">
            <a:avLst/>
          </a:prstGeom>
          <a:noFill/>
          <a:ln w="10160">
            <a:solidFill>
              <a:srgbClr val="FFFFFF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3072384" y="5907024"/>
            <a:ext cx="1443228" cy="512064"/>
          </a:xfrm>
          <a:prstGeom prst="rect">
            <a:avLst/>
          </a:prstGeom>
          <a:solidFill>
            <a:srgbClr val="FFFFFF">
              <a:alpha val="2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3118104" y="5907024"/>
            <a:ext cx="13517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Azure OpenAI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579620" y="5907024"/>
            <a:ext cx="1443228" cy="512064"/>
          </a:xfrm>
          <a:prstGeom prst="rect">
            <a:avLst/>
          </a:prstGeom>
          <a:solidFill>
            <a:srgbClr val="FFFFFF">
              <a:alpha val="2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4625340" y="5907024"/>
            <a:ext cx="13517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 Copilot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086856" y="5907024"/>
            <a:ext cx="1443228" cy="512064"/>
          </a:xfrm>
          <a:prstGeom prst="rect">
            <a:avLst/>
          </a:prstGeom>
          <a:solidFill>
            <a:srgbClr val="FFFFFF">
              <a:alpha val="2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132576" y="5907024"/>
            <a:ext cx="13517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Claude (Anthropic)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7594092" y="5907024"/>
            <a:ext cx="1443228" cy="512064"/>
          </a:xfrm>
          <a:prstGeom prst="rect">
            <a:avLst/>
          </a:prstGeom>
          <a:solidFill>
            <a:srgbClr val="FFFFFF">
              <a:alpha val="2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7639812" y="5907024"/>
            <a:ext cx="13517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MCP Servers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9101328" y="5907024"/>
            <a:ext cx="1443228" cy="512064"/>
          </a:xfrm>
          <a:prstGeom prst="rect">
            <a:avLst/>
          </a:prstGeom>
          <a:solidFill>
            <a:srgbClr val="FFFFFF">
              <a:alpha val="2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9147048" y="5907024"/>
            <a:ext cx="13517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Databricks Assistant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10608564" y="5907024"/>
            <a:ext cx="1443228" cy="512064"/>
          </a:xfrm>
          <a:prstGeom prst="rect">
            <a:avLst/>
          </a:prstGeom>
          <a:solidFill>
            <a:srgbClr val="FFFFFF">
              <a:alpha val="2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0654284" y="5907024"/>
            <a:ext cx="13517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Windsurf (TBD)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182880" y="663854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MomentimRx  |  © 2025 McKesson Corporation  |  McKesson Proprietary and Confidential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9601200" y="66385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7B1A1A"/>
          </a:solidFill>
          <a:ln w="12700">
            <a:solidFill>
              <a:srgbClr val="7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FF9090"/>
          </a:solidFill>
          <a:ln w="12700">
            <a:solidFill>
              <a:srgbClr val="FF9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01675"/>
            <a:ext cx="12161520" cy="38405"/>
          </a:xfrm>
          <a:prstGeom prst="rect">
            <a:avLst/>
          </a:prstGeom>
          <a:solidFill>
            <a:srgbClr val="C23232"/>
          </a:solidFill>
          <a:ln w="1270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AI Platform  |  Center of Excellence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0664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MRx  ·  MomentimRx  ·  MRx Nexus Portal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" y="768096"/>
            <a:ext cx="11905488" cy="128016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8016" y="768096"/>
            <a:ext cx="91440" cy="1280160"/>
          </a:xfrm>
          <a:prstGeom prst="rect">
            <a:avLst/>
          </a:prstGeom>
          <a:solidFill>
            <a:srgbClr val="7B1A1A"/>
          </a:solidFill>
          <a:ln w="12700">
            <a:solidFill>
              <a:srgbClr val="7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2007108"/>
            <a:ext cx="11777472" cy="0"/>
          </a:xfrm>
          <a:prstGeom prst="line">
            <a:avLst/>
          </a:prstGeom>
          <a:noFill/>
          <a:ln w="1524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" y="85953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MRx Nexus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329184" y="1499616"/>
            <a:ext cx="2011680" cy="54864"/>
          </a:xfrm>
          <a:prstGeom prst="rect">
            <a:avLst/>
          </a:prstGeom>
          <a:solidFill>
            <a:srgbClr val="C23232"/>
          </a:solidFill>
          <a:ln w="12700">
            <a:solidFill>
              <a:srgbClr val="C2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" y="159105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Center of Excellence  —  SharePoint Knowledge Portal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1042416"/>
            <a:ext cx="5687568" cy="640080"/>
          </a:xfrm>
          <a:prstGeom prst="rect">
            <a:avLst/>
          </a:prstGeom>
          <a:solidFill>
            <a:srgbClr val="7B1A1A">
              <a:alpha val="90000"/>
            </a:srgbClr>
          </a:solidFill>
          <a:ln w="19050">
            <a:solidFill>
              <a:srgbClr val="C232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63056" y="1042416"/>
            <a:ext cx="54864" cy="640080"/>
          </a:xfrm>
          <a:prstGeom prst="rect">
            <a:avLst/>
          </a:prstGeom>
          <a:solidFill>
            <a:srgbClr val="FF9090"/>
          </a:solidFill>
          <a:ln w="12700">
            <a:solidFill>
              <a:srgbClr val="FF9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91072" y="104241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D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</a:t>
            </a: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mckessoncorp.sharepoint.com/sites/MRXNexusCOE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" y="2176272"/>
            <a:ext cx="5852160" cy="4425696"/>
          </a:xfrm>
          <a:prstGeom prst="rect">
            <a:avLst/>
          </a:prstGeom>
          <a:solidFill>
            <a:srgbClr val="FFFFFF"/>
          </a:solidFill>
          <a:ln w="19050">
            <a:solidFill>
              <a:srgbClr val="D0B8B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8016" y="2176272"/>
            <a:ext cx="5852160" cy="365760"/>
          </a:xfrm>
          <a:prstGeom prst="rect">
            <a:avLst/>
          </a:prstGeom>
          <a:solidFill>
            <a:srgbClr val="9E2323"/>
          </a:solidFill>
          <a:ln w="12700">
            <a:solidFill>
              <a:srgbClr val="9E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" y="2176272"/>
            <a:ext cx="5687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Nexus?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56032" y="2633472"/>
            <a:ext cx="5596128" cy="1243584"/>
          </a:xfrm>
          <a:prstGeom prst="rect">
            <a:avLst/>
          </a:prstGeom>
          <a:solidFill>
            <a:srgbClr val="FFF0F0"/>
          </a:solidFill>
          <a:ln w="12700">
            <a:solidFill>
              <a:srgbClr val="E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2633472"/>
            <a:ext cx="50292" cy="1243584"/>
          </a:xfrm>
          <a:prstGeom prst="rect">
            <a:avLst/>
          </a:prstGeom>
          <a:solidFill>
            <a:srgbClr val="7B1A1A"/>
          </a:solidFill>
          <a:ln w="12700">
            <a:solidFill>
              <a:srgbClr val="7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2724912"/>
            <a:ext cx="5449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7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nex·us</a:t>
            </a:r>
            <a:r>
              <a:rPr lang="en-US" sz="950" i="1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/ˈnekʷsəs/  ·  noun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3035808"/>
            <a:ext cx="544982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healthcare and enterprise data contexts, </a:t>
            </a:r>
            <a:r>
              <a:rPr lang="en-US" sz="1000" b="1" i="1" dirty="0">
                <a:solidFill>
                  <a:srgbClr val="7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r>
              <a:rPr lang="en-US" sz="100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denotes the </a:t>
            </a:r>
            <a:r>
              <a:rPr lang="en-US" sz="1000" b="1" dirty="0">
                <a:solidFill>
                  <a:srgbClr val="7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hub, convergence point, or core node</a:t>
            </a:r>
            <a:r>
              <a:rPr lang="en-US" sz="100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data streams, clinical systems, and operational teams intersect and align. It is the binding center from which coordination, governance, and knowledge radiate outward.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4023360"/>
            <a:ext cx="5596128" cy="676656"/>
          </a:xfrm>
          <a:prstGeom prst="rect">
            <a:avLst/>
          </a:prstGeom>
          <a:solidFill>
            <a:srgbClr val="1A0A0A"/>
          </a:solidFill>
          <a:ln w="19050">
            <a:solidFill>
              <a:srgbClr val="C232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4023360"/>
            <a:ext cx="50292" cy="676656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078224"/>
            <a:ext cx="5449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232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MRx Nexus</a:t>
            </a:r>
            <a:r>
              <a:rPr lang="en-US" sz="1200" dirty="0">
                <a:solidFill>
                  <a:srgbClr val="FFD0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is the core for a successful data and AI operational model within the organization.</a:t>
            </a:r>
            <a:r>
              <a:rPr lang="en-US" sz="2600" b="1" dirty="0">
                <a:solidFill>
                  <a:srgbClr val="C232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”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56032" y="4846320"/>
            <a:ext cx="5596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What You'll Find in MRx Nexus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" y="5138928"/>
            <a:ext cx="552297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CoE standards, patterns &amp; architectural blueprints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enablement toolkits, prompt libraries &amp; model guides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CI/CD pipeline templates &amp; dev framework accelerators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Governance frameworks, data quality scorecards &amp; lineage maps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3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Security, compliance, and ops readiness runbooks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8192" y="2176272"/>
            <a:ext cx="5925312" cy="4425696"/>
          </a:xfrm>
          <a:prstGeom prst="rect">
            <a:avLst/>
          </a:prstGeom>
          <a:solidFill>
            <a:srgbClr val="FFFFFF"/>
          </a:solidFill>
          <a:ln w="19050">
            <a:solidFill>
              <a:srgbClr val="D0B8B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08192" y="2176272"/>
            <a:ext cx="5925312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36208" y="21762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Connected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17920" y="2633472"/>
            <a:ext cx="5705856" cy="914400"/>
          </a:xfrm>
          <a:prstGeom prst="rect">
            <a:avLst/>
          </a:prstGeom>
          <a:solidFill>
            <a:srgbClr val="F8F4FF"/>
          </a:solidFill>
          <a:ln w="10160">
            <a:solidFill>
              <a:srgbClr val="C8B8D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91072" y="2916936"/>
            <a:ext cx="347472" cy="34747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91072" y="2916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48272" y="2679192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Visit MRx Nexus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48272" y="2916936"/>
            <a:ext cx="51755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MRx Nexus SharePoint portal using your McKesson SSO credentials. No additional access requests required for MRx team members.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3611880"/>
            <a:ext cx="5705856" cy="914400"/>
          </a:xfrm>
          <a:prstGeom prst="rect">
            <a:avLst/>
          </a:prstGeom>
          <a:solidFill>
            <a:srgbClr val="F8F4FF"/>
          </a:solidFill>
          <a:ln w="10160">
            <a:solidFill>
              <a:srgbClr val="C8B8D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91072" y="3895344"/>
            <a:ext cx="347472" cy="34747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91072" y="3895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48272" y="3657600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Explore the Knowledge Base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748272" y="3895344"/>
            <a:ext cx="51755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CoE standards, architecture patterns, AI toolkits, governance frameworks, and runbooks — all organized by CoE pillar.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4590288"/>
            <a:ext cx="5705856" cy="914400"/>
          </a:xfrm>
          <a:prstGeom prst="rect">
            <a:avLst/>
          </a:prstGeom>
          <a:solidFill>
            <a:srgbClr val="F8F4FF"/>
          </a:solidFill>
          <a:ln w="10160">
            <a:solidFill>
              <a:srgbClr val="C8B8D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91072" y="4873752"/>
            <a:ext cx="347472" cy="34747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91072" y="4873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48272" y="4636008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Engage &amp; Contribute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748272" y="4873752"/>
            <a:ext cx="51755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feedback, propose new standards, share reusable assets, or request a CoE review via the built-in collaboration channels.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5568696"/>
            <a:ext cx="5705856" cy="914400"/>
          </a:xfrm>
          <a:prstGeom prst="rect">
            <a:avLst/>
          </a:prstGeom>
          <a:solidFill>
            <a:srgbClr val="F8F4FF"/>
          </a:solidFill>
          <a:ln w="10160">
            <a:solidFill>
              <a:srgbClr val="C8B8D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91072" y="5852160"/>
            <a:ext cx="347472" cy="34747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91072" y="5852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48272" y="5614416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Accelerate Your Team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748272" y="5852160"/>
            <a:ext cx="51755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new engineers using Nexus as the single source of truth — reducing ramp time and ensuring every team starts from best practices.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82880" y="663854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MomentimRx  |  © 2025 McKesson Corporation  |  McKesson Proprietary and Confidential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9601200" y="66385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fbd6cd6-3262-48dc-8011-f5abeb79275f}" enabled="1" method="Privileged" siteId="{da67ef1b-ca59-4db2-9a8c-aa8d94617a1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868</Words>
  <Application>Microsoft Macintosh PowerPoint</Application>
  <PresentationFormat>Widescreen</PresentationFormat>
  <Paragraphs>118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&amp; AI Center of Excellence — MRx Platform</dc:title>
  <dc:subject>PptxGenJS Presentation</dc:subject>
  <dc:creator>PptxGenJS</dc:creator>
  <cp:lastModifiedBy>Garimella, Sriharsha</cp:lastModifiedBy>
  <cp:revision>3</cp:revision>
  <dcterms:created xsi:type="dcterms:W3CDTF">2026-03-24T02:30:33Z</dcterms:created>
  <dcterms:modified xsi:type="dcterms:W3CDTF">2026-03-24T02:49:49Z</dcterms:modified>
</cp:coreProperties>
</file>